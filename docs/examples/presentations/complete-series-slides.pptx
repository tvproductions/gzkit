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227"/>
                </a:solidFill>
                <a:latin typeface="Georgia"/>
              </a:rPr>
              <a:t>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Georgia"/>
              </a:rPr>
              <a:t>Why Governed Development?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5F0DF"/>
                </a:solidFill>
                <a:latin typeface="Calibri"/>
              </a:rPr>
              <a:t>CIDM 6330/6395  |  Governed Software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Software Development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Why Governed Development?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Software Engineering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six-part video tutorial series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Coding Revolution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functions and 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complete test suites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entire features in seconds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and optimize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9659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are incredible.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actually making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design decisions?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Degradation Pattern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949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prompt carefully, review every line, understand what's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start skimming diffs, trust the green checkmarks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batch approvals, "looks good" becomes reflexive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You're approving PRs you didn't read, for code you don't understand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didn't lose control in one dramatic moment.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slipped away one 'looks good' at a time."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the engine.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driver.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 the steering wheel.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hire you for judgment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make design decisions and explain why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stop using AI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stay the architect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explain why it's built this way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actually know?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Zero Doctrine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234440"/>
            <a:ext cx="457200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234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human is index zero"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 Priority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intent drives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 Authority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 off,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Automated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steps require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Covenant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Gates constrain agents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They can't skip checkpoints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Humans must engage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Read everything, question everything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43000" cy="1188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143000" cy="11887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1143000" cy="1188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0116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1143000" cy="118872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97880" y="1371600"/>
            <a:ext cx="1143000" cy="118872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20116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1645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14300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15544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20116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27432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you're building and why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27432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how you'll approach each feature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27432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ADRs into small, testable items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27432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one task at a 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7880" y="27432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check acceptance criteria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274320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and signs off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link is a document you create. Every document is evidence.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Use: Templates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4688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Template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product: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and why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2801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280160"/>
            <a:ext cx="24688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Template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decisions: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chose and why not alternatives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280160"/>
            <a:ext cx="24688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Template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work items: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criteria, verification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tools required — just a text editor and git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gzkit CLI automates this workflow — preview in Part 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Series Covers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47548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You'll 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Governance?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 + the philosophy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what to build and 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design choices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features into work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tests, and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Cycle + gzkit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Putting it all together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 throughout: a Reading List Tracker CLI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Observe the Degradation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417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Before Part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AI assistant to build a small feature (anything)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its output without changes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add another feature on top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assess: how carefully did you review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output vs. the first?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time to think about architecture 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start coding. The second best time is now."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2: Product Requirements Documents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docs/examples/templates/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guides: docs/examples/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Glossary: docs/examples/glossary.md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Post in the course discussion board.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227"/>
                </a:solidFill>
                <a:latin typeface="Georgia"/>
              </a:rP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Georgia"/>
              </a:rPr>
              <a:t>Product Requirements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5F0DF"/>
                </a:solidFill>
                <a:latin typeface="Calibri"/>
              </a:rPr>
              <a:t>CIDM 6330/6395  |  Governed Software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Software Development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Product Requirements Documents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Software Engineering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what you're building and why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PRD?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contract that answers three questions: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exists today?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product do about it?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know it worked?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PRD describes WHAT, not HOW.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code, no frameworks, no schemas.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Write a PRD?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a PRD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 PRD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"I'll just start coding"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know "done" before line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creeps silently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is explicit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Misalignment at demo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Misalignment at review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requirement traces back to the problem statement.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PRD Template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building this?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ideal look like?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product do?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NOT doing?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Assumptions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success?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North Star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657600" cy="914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"The system lacks a REST API for CRUD operations on user entities."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657600" cy="9144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37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"Students accumulate book recommendations but have no simple way to track them."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1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student can manage their entire reading list from one CLI command."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&amp; MoSCoW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is useless without this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Important, but workaround exists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Nice to have if time permits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Have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out of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should be Observable, Testable, Independent.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Non-Goals, Risks &amp; Assumptions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Non-Goals: 3-5 things the product will NOT 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What could go wrong? What's your mitigation?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What are you assuming? What if wrong?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Explicitly stating what you're NOT building prevents scope creep.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Reading List PRD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track of book recommendations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reading list from one CLI command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286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books, list by status, mark as read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788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interface, cloud sync, social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291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Goodreads integration, no mobile 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PRD says nothing about SQLite or Pydantic. Those are design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as 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"Use React" is design, not a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Skipping non-goals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seems in scope; you drown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requirements ("be fast")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"Results appear within 2 seconds"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user stories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float without 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it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spots go unchallenged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Write Your PRD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templates/prd-template.md into your project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problem statement — no technology 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North Star in one sentence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Must Have and Won't Have requirements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3 non-goals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 classmate for review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3: Architecture Decision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chain: PRD → ADR → Tasks → Code → Verify → Attest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PRD Guide + PRD Template in docs/examples/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227"/>
                </a:solidFill>
                <a:latin typeface="Georgia"/>
              </a:rPr>
              <a:t>Part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Georgia"/>
              </a:rPr>
              <a:t>Architecture Decision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5F0DF"/>
                </a:solidFill>
                <a:latin typeface="Calibri"/>
              </a:rPr>
              <a:t>CIDM 6330/6395  |  Governed Software Development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Software Development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Architecture Decision Records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Software Engineering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design decisions before implementation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ADR?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lab notebook entry for software design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Architectural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over 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every database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for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Affects every endpoint and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REST, not GraphQL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client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ADRs: bug fixes, formatting, variable names (reversible)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Write ADRs?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25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forget WHY you chose something.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later: waste time or re-introduce solved problems.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need shared, explicit decisions.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tribal knowledge.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246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2461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writes code, ADRs prove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the design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ADR Template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decide? (numbered list)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tradeoffs? (pos + neg)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did we consider?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Checklist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observable outcomes?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Feature Checklist becomes your task list (Part 4).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the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SQLite as the persistence layer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database at data/reading_list.db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repository pattern for database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in-memory SQLite for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books with Pydantic BaseModel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specific enough to implement.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teammate reads this, they know what to build.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Consequences &amp; Alternatives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657600" cy="1371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 stdlib—no dependencies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for fast tests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at boundary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3716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concurrent writes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abstraction layer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adds a dependency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918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Overkill; requires server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Fragile; no query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query; adds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Decomposition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new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multi-step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user surface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surfaces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+ alerting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dependencies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upstream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score suggests task count: score 3 → 3-4 tasks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Book Storage ADR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books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repository + Pydantic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Data=1, Logic=1, Interface=1 → Total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926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items → 4 tasks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 was written BEFORE any code.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7373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17373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7373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1554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40880" y="1463040"/>
            <a:ext cx="1737360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463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Superseded (replaced) or Abandoned (reversed)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decisions in one ADR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decision per ADR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alternatives 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at least 2 alternatives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Numbered, specific commitments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ADRs after 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BEFORE you implement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Write Your First ADR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templates/adr-template.md into your project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Intent to your PRD's problem statement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3-5 numbered decision commitments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2 alternatives you rejected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Decomposition Scorecard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Feature Checklist (these become tasks)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4: Task Decomposition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ADR → Tasks → Code → Verify → Attest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ADR Guide + ADR Template in docs/examples/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227"/>
                </a:solidFill>
                <a:latin typeface="Georgia"/>
              </a:rPr>
              <a:t>Part 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Georgia"/>
              </a:rPr>
              <a:t>Task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5F0DF"/>
                </a:solidFill>
                <a:latin typeface="Calibri"/>
              </a:rPr>
              <a:t>CIDM 6330/6395  |  Governed Software Development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Software Development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Task Decomposition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Software Engineering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features into small, testable work items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Decompose?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"Build search" (3 weeks)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1: Search method (2 hours)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checkpoints until 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task testable independently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bug blocks 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isolated to one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can't describe "done" in a sentence, the task is too big.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 Checklist →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Checklist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model with Pydantic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Book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repository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commands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CLI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test suite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is 1:1 — no gaps, no bundles.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 Template: Five Sections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what does "done" look like?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files will you create or modify?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Requirements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MUST NOT constraints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Acceptance Criteria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checkboxes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to prove it works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Acceptance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Criteria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Title validates non-empty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Invalid status raises 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All tests pass: python -m unittest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828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Criteria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[✗] "Code is clean" (subjective)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[✗] "Works properly" (vague)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[✗] "Looks good" (untestable)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Completable 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 can adjust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Delivers something useful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focused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Provable with a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Right-Sizing Tasks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Big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Right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"Build the search feature"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"Implement search with filters"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"Add import for sqlite3"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a 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2-6 hours, testable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independent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thumb: 2-8 hours per task.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Book Model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Pydantic model with validated fields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src/models.py (new), tests/test_models.py (new)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286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Pydantic, MUST constrain status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788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testable checkboxes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291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unittest tests.test_models -v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and AI Assistants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task brief is your steering wheel.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the engine — powerful but directionless without you.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Brief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Brief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"Build search" → 500 lines, 8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"Task 2 criteria" → focused, reviewable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 to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minutes to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1: Book model             — no dependencies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2: SQLite repository     — depends on Task 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3: CLI commands           — depends on 1 + 2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4: Unit tests                — depends on Task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 in progress at a time. Finish before moving on.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Decompose Your ADR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templates/task-template.md for each checklist item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acceptance criteria as testable checkboxes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 — which files will you touch?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dependencies — which tasks block which?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task against INVEST (especially S and T)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5: Implementation and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ADR → Tasks → Code → Verify → Attest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227"/>
                </a:solidFill>
                <a:latin typeface="Georgia"/>
              </a:rPr>
              <a:t>Part 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Georgia"/>
              </a:rPr>
              <a:t>Implementation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5F0DF"/>
                </a:solidFill>
                <a:latin typeface="Calibri"/>
              </a:rPr>
              <a:t>CIDM 6330/6395  |  Governed Software Development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Software Development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Implementation and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Software Engineering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and proof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Implementation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4630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brief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4630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1371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508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14630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1371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508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14630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371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tests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508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14630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3716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status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task at a time. Finish before moving to the next.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Book Model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ReadingStatus enum: to-read, reading, done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model: title, author, status, date_added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Field(..., min_length=1) rejects empty strings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default_factory=date.today for automatic dates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directly satisfies the task brief's requirements.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Tests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Verifies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test_valid_book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book, checks defaults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test_defaults_date_added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date assignment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test_rejects_empty_title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string → ValidationError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test_rejects_invalid_status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"burned" is not 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test_accepts_all_statuses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enum values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acceptance criterion has a test.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Tests &amp; Checking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unittest tests.test_models -v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tests, all pass, ~0.01 seconds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Book model validates title is non-empty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Book model constrains status to three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Invalid inputs raise ValidationError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[✓] All tests pass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DONE. Update the brief status.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Gates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decision is recorded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pass with adequate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is updated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 tests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attestation recorded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Gates 3-5 are Heavy lane only. Lite lane requires Gates 1 and 2.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Closeout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complete, gates pass → present your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verification commands live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output: tests passing, code running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 by pointing to your ADR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classroom: this is your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artifacts aren't paperwork — they're your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Attestation: Human Sign-Off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work done, all claims 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work deferred with documented 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reversed, documented 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"Attestation means: I observed this, and it works."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Chain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→ Problem defined, requirements listed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ADR → Design decision recorded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→ Briefs written, code + tests pass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Gates → Quality checkpoints passed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Closeout → Work presented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Attestation → Human signed off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Activity: Implement Your First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task brief (objective, requirements, criteria)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matching the scope in the brief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tests for each acceptance criterion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verification command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acceptance criteria boxes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task brief status to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6: Putting It All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ADR → Tasks → Code → Verify → Attest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9A227"/>
                </a:solidFill>
                <a:latin typeface="Georgia"/>
              </a:rPr>
              <a:t>Part 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286000"/>
            <a:ext cx="365760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Georgia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5F0DF"/>
                </a:solidFill>
                <a:latin typeface="Calibri"/>
              </a:rPr>
              <a:t>CIDM 6330/6395  |  Governed Software Development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Software Development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 Putting It All Together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Software Engineering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cycle and gzkit CLI preview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1143000" cy="10058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371600"/>
            <a:ext cx="1143000" cy="10058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1143000" cy="10058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1143000" cy="100584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1371600"/>
            <a:ext cx="1143000" cy="1005840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9788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371600"/>
            <a:ext cx="1143000" cy="1005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463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artifact lives in your git repository — version-controlled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my-project/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docs/design/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prd/PRD-MYPROJECT-1.0.0.md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adr/ADR-0.1.0/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ADR-0.1.0.md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tasks/TASK-01…TASK-04.md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(your code)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  (your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Repeating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ADR-0.1.0: Book storage and retrieval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ADR-0.2.0: Reading statistics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ADR-0.3.0: Book 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feature gets its own ADR. Each ADR gets its own tasks.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cycle repeats until the PRD is fulfilled.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004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Learned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governance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(understanding)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what to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Recording design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Breaking features into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briefs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Implementing and verifying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+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Governed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gzkit CLI Preview (Coming Soon)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Did Manually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gzkit Automates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PRD from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prd scaffolds with interview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ADR from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plan creates with scorecard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task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specify generates briefs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tests manually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gates runs checkpoints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Presented informally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closeout generates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attest records sign-off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in your 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 status shows 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Ledger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append-only audit trail (.gzkit/ledger.jsonl)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{"event":"project_init","id":"reading-list",...}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{"event":"prd_created","id":"PRD-READING-LIST",...}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{"event":"adr_created","id":"ADR-0.1.0",...}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{"event":"gate_checked","id":"ADR-0.1.0","status":"pass",...}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{"event":"attested","id":"ADR-0.1.0","status":"completed",...}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Timestamped, immutable — no one can silently delete history.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Lanes: Lite vs. Heavy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Required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(ADR) + 2 (TDD)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changes, refactoring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contracts, CLI,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Rule: if a user would notice the change, it's Heavy.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CIDM 6330/6395  |  Governed Software Development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09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templates/prd-template.md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templates/adr-template.md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templates/task-template.md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 (deep dive)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guide-prd / guide-adr / guide-tasks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glossary.md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tutorial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tutorial-first-project.md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isn't bureaucracy.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evidence.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AI writes code, governance proves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architect.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come later. The thinking comes first.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